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customXml" Target="../customXml/item1.xml"/><Relationship Id="rId8" Type="http://schemas.openxmlformats.org/officeDocument/2006/relationships/customXml" Target="../customXml/item2.xml"/><Relationship Id="rId9" Type="http://schemas.openxmlformats.org/officeDocument/2006/relationships/customXml" Target="../customXml/item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</a:defRPr>
            </a:pPr>
            <a:r>
              <a:t>GENAI PRODUCTS — Q1-Q3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1F5F9"/>
                </a:solidFill>
              </a:defRPr>
            </a:pPr>
            <a:r>
              <a:t>GenAI for Banker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</a:defRPr>
            </a:pPr>
            <a:r>
              <a:t>Powered by Personetics' Real-Time Financial Behavior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THE GAP: Bankers don't have access to customers' financial behavior and real-time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</a:defRPr>
            </a:pPr>
            <a:r>
              <a:t>PERSONETICS' VALUE: EDM provides real-time financial intelligence — income, spending, primacy signals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2743200" cy="16459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32461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</a:defRPr>
            </a:pPr>
            <a:r>
              <a:t>🤖 AI CALL 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2044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ML Prioritization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94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AI ranks customers by behavioral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749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108960"/>
            <a:ext cx="2743200" cy="16459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566160" y="32461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</a:defRPr>
            </a:pPr>
            <a:r>
              <a:t>🧠 GENAI SNAPSHOT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52044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NLP Summarization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794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LLM generates customer briefing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49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108960"/>
            <a:ext cx="2743200" cy="16459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537960" y="32461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</a:defRPr>
            </a:pPr>
            <a:r>
              <a:t>💬 GENAI 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52044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Conversational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794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Ask anything about customer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7490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</a:defRPr>
            </a:pPr>
            <a: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3108960"/>
            <a:ext cx="2743200" cy="16459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509760" y="32461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📣 AI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52044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Behavioral Triggers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794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ML signals power campaigns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29200"/>
            <a:ext cx="3657600" cy="100584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45720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EDM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Real-time financial behavior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5029200"/>
            <a:ext cx="3657600" cy="100584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425196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GenAI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LLM grounded in verified context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5029200"/>
            <a:ext cx="3657600" cy="100584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804672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MCP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Bank-grade AI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</a:defRPr>
            </a:pPr>
            <a:r>
              <a:t>GENAI PRODUCT 01 | AI-POWERED 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</a:defRPr>
            </a:pPr>
            <a:r>
              <a:t>AI-Generated Call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ML ranks customers by real-time financial behavior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029200" cy="365760"/>
          </a:xfrm>
          <a:prstGeom prst="roundRect">
            <a:avLst/>
          </a:prstGeom>
          <a:solidFill>
            <a:srgbClr val="14323C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6B6D4"/>
                </a:solidFill>
              </a:defRPr>
            </a:pPr>
            <a:r>
              <a:t>🌅 START OF DAY — Answers: "Who needs my attention today?"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11247120" cy="731520"/>
          </a:xfrm>
          <a:prstGeom prst="roundRect">
            <a:avLst/>
          </a:prstGeom>
          <a:solidFill>
            <a:srgbClr val="281414"/>
          </a:solidFill>
          <a:ln>
            <a:solidFill>
              <a:srgbClr val="5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⚠️ Bankers start each day without a structured view of who needs attention. Opportunities are missed, at-risk customers churn silently, and sales efforts are unfocused.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📋 What It Delivers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5029200" cy="11887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</a:defRPr>
            </a:pPr>
            <a:r>
              <a:t>AI-Prioritized Daily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Every morning, receive a ranked list sorted by: Opportunity × Risk × Recency. Shows customer name, top insight, and recommended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5029200" cy="64008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📞 Call Today  •  📧 Send Email  •  📅 Schedule Meeting  •  📈 Upsell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108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🖥️ Sample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474720"/>
            <a:ext cx="5943600" cy="1920240"/>
          </a:xfrm>
          <a:prstGeom prst="roundRect">
            <a:avLst/>
          </a:prstGeom>
          <a:solidFill>
            <a:srgbClr val="111827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3566160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Today's Priority Outreach — March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931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</a:defRPr>
            </a:pPr>
            <a:r>
              <a:t>Aaron Davies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Large deposit at competitor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39319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</a:defRPr>
            </a:pPr>
            <a:r>
              <a:t>⚠️ Call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297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</a:defRPr>
            </a:pPr>
            <a:r>
              <a:t>Maria Chen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297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Income increased 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42976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</a:defRPr>
            </a:pPr>
            <a:r>
              <a:t>📈 Upsell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6634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</a:defRPr>
            </a:pPr>
            <a:r>
              <a:t>James Miller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663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Credit payment past due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46634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</a:defRPr>
            </a:pPr>
            <a:r>
              <a:t>🔔 Follow 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77840"/>
            <a:ext cx="3566160" cy="82296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457200" y="566928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DAILY PLANNING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97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30 min → 0 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5577840"/>
            <a:ext cx="3566160" cy="82296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4206240" y="566928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CONTACT-TO-CONVERSION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897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12% → 22%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5577840"/>
            <a:ext cx="3566160" cy="82296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7955279" y="566928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PILOT TIMELINE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897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4 Weeks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</a:defRPr>
            </a:pPr>
            <a:r>
              <a:t>GENAI PRODUCT 02 | NATURAL LANGUAGE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82F6"/>
                </a:solidFill>
              </a:defRPr>
            </a:pPr>
            <a:r>
              <a:t>GenAI Customer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LLM-generated briefing grounded in real-time behavioral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943600" cy="365760"/>
          </a:xfrm>
          <a:prstGeom prst="roundRect">
            <a:avLst/>
          </a:prstGeom>
          <a:solidFill>
            <a:srgbClr val="14283C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B82F6"/>
                </a:solidFill>
              </a:defRPr>
            </a:pPr>
            <a:r>
              <a:t>📞 BEFORE EACH CALL — Answers: "What do I need to know about THIS customer?"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11247120" cy="731520"/>
          </a:xfrm>
          <a:prstGeom prst="roundRect">
            <a:avLst/>
          </a:prstGeom>
          <a:solidFill>
            <a:srgbClr val="281414"/>
          </a:solidFill>
          <a:ln>
            <a:solidFill>
              <a:srgbClr val="5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⚠️ Bankers spend 15+ minutes gathering customer context before every meeting, switching between 4-6 systems to understand what changed, what to recommend, and what risks exist.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🎯 What's Included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5029200" cy="64008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</a:defRPr>
            </a:pPr>
            <a:r>
              <a:t>📊 Key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Income shifts, spending anomalies, deposit trends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5029200" cy="64008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</a:defRPr>
            </a:pPr>
            <a:r>
              <a:t>🎯 Primacy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Churn risk, external bank activity, PRISM indicators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937760"/>
            <a:ext cx="5029200" cy="64008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</a:defRPr>
            </a:pPr>
            <a:r>
              <a:t>💡 Opportunities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57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Products to recommend, consolidation potential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108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🖥️ Sample Snapshot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3474720"/>
            <a:ext cx="594360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</a:defRPr>
            </a:pPr>
            <a:r>
              <a:t>👤 Aaron Davies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840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Premium • 8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611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</a:defRPr>
            </a:pPr>
            <a:r>
              <a:t>⚠️ At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160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KEY CHANGES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↓ Income -12% (3 mo)</a:t>
            </a:r>
            <a:br/>
            <a:r>
              <a:t>↑ Spending +8%</a:t>
            </a:r>
            <a:br/>
            <a:r>
              <a:t>↓ Deposits -$4,200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160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</a:defRPr>
            </a:pPr>
            <a:r>
              <a:t>PRIMACY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⚠️ External deposit: Chase</a:t>
            </a:r>
            <a:br/>
            <a:r>
              <a:t>📉 PRISM score: 62</a:t>
            </a:r>
            <a:br/>
            <a:r>
              <a:t>🔻 Engagement declining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0292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💡 OPPORTUNITIES: Consolidation offer • Rate lock promotion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760720"/>
            <a:ext cx="3566160" cy="82296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58521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PREP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80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15 min → 15 sec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5760720"/>
            <a:ext cx="3566160" cy="82296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206240" y="58521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CUSTOMERS/DAY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6080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8 → 30+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5760720"/>
            <a:ext cx="3566160" cy="82296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7955279" y="58521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ROI (PER BANKER/YEAR)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6080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604 hours saved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</a:defRPr>
            </a:pPr>
            <a:r>
              <a:t>GENAI PRODUCT 03 | CONVERSATIONAL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8B5CF6"/>
                </a:solidFill>
              </a:defRPr>
            </a:pPr>
            <a:r>
              <a:t>GenAI Financial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Natural language queries answered by LLM grounded in real-time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029200" cy="365760"/>
          </a:xfrm>
          <a:prstGeom prst="roundRect">
            <a:avLst/>
          </a:prstGeom>
          <a:solidFill>
            <a:srgbClr val="281E32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B5CF6"/>
                </a:solidFill>
              </a:defRPr>
            </a:pPr>
            <a:r>
              <a:t>🎯 DURING THE CALL — Answers: "Why did X happen?"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11247120" cy="731520"/>
          </a:xfrm>
          <a:prstGeom prst="roundRect">
            <a:avLst/>
          </a:prstGeom>
          <a:solidFill>
            <a:srgbClr val="281414"/>
          </a:solidFill>
          <a:ln>
            <a:solidFill>
              <a:srgbClr val="5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⚠️ Bankers toggle between 4-6 systems. When a customer asks "Why did my spending go up?", the banker can't answer in real-time. Context switching kills productivity and trust.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💬 Sample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5029200" cy="21031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5CF6"/>
                </a:solidFill>
              </a:defRPr>
            </a:pPr>
            <a:r>
              <a:t>"Why did this customer's deposits drop?"</a:t>
            </a:r>
            <a:br/>
            <a:br/>
            <a:r>
              <a:t>"What products should I recommend?"</a:t>
            </a:r>
            <a:br/>
            <a:br/>
            <a:r>
              <a:t>"Are they at risk of leaving?"</a:t>
            </a:r>
            <a:br/>
            <a:br/>
            <a:r>
              <a:t>"What insights did they receive this month?"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108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🖥️ Live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3474720"/>
            <a:ext cx="594360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566160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🤖 Personetics AI Assistant • Customer: Aaron Davies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3931920"/>
            <a:ext cx="3017520" cy="411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97763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</a:defRPr>
            </a:pPr>
            <a:r>
              <a:t>Why did deposits drop last month?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4480560"/>
            <a:ext cx="5029200" cy="1005840"/>
          </a:xfrm>
          <a:prstGeom prst="roundRect">
            <a:avLst/>
          </a:prstGeom>
          <a:solidFill>
            <a:srgbClr val="1A2234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45720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Aaron's deposits decreased 15% due to a new external auto loan payment of $450/mo detected in February.</a:t>
            </a:r>
            <a:br/>
            <a:br/>
            <a:r>
              <a:t>💡 Recommend: Deposit consolidation offer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760720"/>
            <a:ext cx="3566160" cy="82296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SYSTEMS ACCESSED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80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4-6 → 1 (CRM)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5760720"/>
            <a:ext cx="3566160" cy="82296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206240" y="58521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ANSWER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6080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3-5 min → Instant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5760720"/>
            <a:ext cx="3566160" cy="82296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955279" y="58521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ROI (PER AGENT/YEAR)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6080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417 hours saved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</a:defRPr>
            </a:pPr>
            <a:r>
              <a:t>GENAI PRODUCT 04 | AI-TRIGGERED CAMPAIGNS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9E0B"/>
                </a:solidFill>
              </a:defRPr>
            </a:pPr>
            <a:r>
              <a:t>AI Marketing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ML-detected behavioral signals power hyper-personalized campaigns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943600" cy="365760"/>
          </a:xfrm>
          <a:prstGeom prst="roundRect">
            <a:avLst/>
          </a:prstGeom>
          <a:solidFill>
            <a:srgbClr val="32281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59E0B"/>
                </a:solidFill>
              </a:defRPr>
            </a:pPr>
            <a:r>
              <a:t>📣 CAMPAIGN ORCHESTRATION — Connect Personetics to SFMC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11247120" cy="731520"/>
          </a:xfrm>
          <a:prstGeom prst="roundRect">
            <a:avLst/>
          </a:prstGeom>
          <a:solidFill>
            <a:srgbClr val="281414"/>
          </a:solidFill>
          <a:ln>
            <a:solidFill>
              <a:srgbClr val="5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⚠️ Marketing teams rely on static segments (demographics, account type) for campaigns. They can't trigger journeys based on real behavioral signals like salary increases or life events.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🎯 Behavioral Triggers from Personetics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5029200" cy="5029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3547872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</a:defRPr>
            </a:pPr>
            <a:r>
              <a:t>✓ Goals Specified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67328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Customer set a savings goal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59"/>
            <a:ext cx="5029200" cy="5029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4096511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</a:defRPr>
            </a:pPr>
            <a:r>
              <a:t>✓ Salary Increased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15968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Detected income growth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1999"/>
            <a:ext cx="5029200" cy="5029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4645151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</a:defRPr>
            </a:pPr>
            <a:r>
              <a:t>✓ Has Savings 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64607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Product ownership 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20639"/>
            <a:ext cx="5029200" cy="5029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" y="5193791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</a:defRPr>
            </a:pPr>
            <a:r>
              <a:t>✓ Balance Changing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13247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Real-time financial movement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108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🔄 Journey Builder Integration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474720"/>
            <a:ext cx="5943600" cy="2011680"/>
          </a:xfrm>
          <a:prstGeom prst="roundRect">
            <a:avLst/>
          </a:prstGeom>
          <a:solidFill>
            <a:srgbClr val="1A2234"/>
          </a:solidFill>
          <a:ln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5661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</a:defRPr>
            </a:pPr>
            <a:r>
              <a:t>🔗 Salesforce Marketing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840480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Data Extension + Journey Builder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206240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</a:defRPr>
            </a:pPr>
            <a:r>
              <a:t>ENTRY: Salary has Increased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5262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Has Savings? → Add to Savings → Education Email → Exit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9377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Personetics exports enriched customer attributes to SFMC Data Extensions. Journey Builder triggers personalized campaigns based on real-time behavioral signals.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760720"/>
            <a:ext cx="3566160" cy="82296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58521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CAMPAIGN RELEVANCE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80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Static → Behavioral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5760720"/>
            <a:ext cx="3566160" cy="82296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206240" y="58521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PERSONALIZATION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6080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Real-time Signals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5760720"/>
            <a:ext cx="3566160" cy="82296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D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1F5F9"/>
                </a:solidFill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7955279" y="58521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ENGAGEMENT LIFT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6080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2-3x Higher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C23B381255DC44A9B1878EB13F713B" ma:contentTypeVersion="12" ma:contentTypeDescription="Create a new document." ma:contentTypeScope="" ma:versionID="e888c59d5b4062a30b2da7db8b20e91b">
  <xsd:schema xmlns:xsd="http://www.w3.org/2001/XMLSchema" xmlns:xs="http://www.w3.org/2001/XMLSchema" xmlns:p="http://schemas.microsoft.com/office/2006/metadata/properties" xmlns:ns2="8caee58f-fe1b-4698-91c1-0456ce1acd1d" xmlns:ns3="14117e9c-7bc3-4af8-ae89-612f7fca9ed7" targetNamespace="http://schemas.microsoft.com/office/2006/metadata/properties" ma:root="true" ma:fieldsID="c1bd48de9c6ff20fe0800e2fe313a86e" ns2:_="" ns3:_="">
    <xsd:import namespace="8caee58f-fe1b-4698-91c1-0456ce1acd1d"/>
    <xsd:import namespace="14117e9c-7bc3-4af8-ae89-612f7fca9e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ee58f-fe1b-4698-91c1-0456ce1acd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0e99bb5-3115-45c5-89b2-b3c4269609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117e9c-7bc3-4af8-ae89-612f7fca9ed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a44fde1-afbd-4396-9496-327c5cba0457}" ma:internalName="TaxCatchAll" ma:showField="CatchAllData" ma:web="14117e9c-7bc3-4af8-ae89-612f7fca9e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ee58f-fe1b-4698-91c1-0456ce1acd1d">
      <Terms xmlns="http://schemas.microsoft.com/office/infopath/2007/PartnerControls"/>
    </lcf76f155ced4ddcb4097134ff3c332f>
    <TaxCatchAll xmlns="14117e9c-7bc3-4af8-ae89-612f7fca9ed7" xsi:nil="true"/>
  </documentManagement>
</p:properties>
</file>

<file path=customXml/itemProps1.xml><?xml version="1.0" encoding="utf-8"?>
<ds:datastoreItem xmlns:ds="http://schemas.openxmlformats.org/officeDocument/2006/customXml" ds:itemID="{205883C3-932A-4A9F-B447-7E8AEF2A535F}"/>
</file>

<file path=customXml/itemProps2.xml><?xml version="1.0" encoding="utf-8"?>
<ds:datastoreItem xmlns:ds="http://schemas.openxmlformats.org/officeDocument/2006/customXml" ds:itemID="{0CC02C79-D2B7-4A39-BC28-B4285D1D7D5D}"/>
</file>

<file path=customXml/itemProps3.xml><?xml version="1.0" encoding="utf-8"?>
<ds:datastoreItem xmlns:ds="http://schemas.openxmlformats.org/officeDocument/2006/customXml" ds:itemID="{B72D433B-0DDB-447F-B5EE-CF3090DDC259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0x010100B7C23B381255DC44A9B1878EB13F713B</vt:lpwstr>
  </property>
  <property fmtid="{D5CDD505-2E9C-101B-9397-08002B2CF9AE}" pid="3" name="MediaServiceImageTags">
    <vt:lpwstr/>
  </property>
</Properties>
</file>